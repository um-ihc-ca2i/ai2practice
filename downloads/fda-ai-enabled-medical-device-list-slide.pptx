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Radiology</c:v>
                </c:pt>
              </c:strCache>
            </c:strRef>
          </c:tx>
          <c:spPr>
            <a:solidFill>
              <a:srgbClr val="2568B8"/>
            </a:solidFill>
            <a:ln>
              <a:solidFill>
                <a:srgbClr val="2568B8"/>
              </a:solidFill>
            </a:ln>
          </c:spPr>
          <c:cat>
            <c:strRef>
              <c:f>Sheet1!$A$2:$A$27</c:f>
              <c:strCache>
                <c:ptCount val="26"/>
                <c:pt idx="0">
                  <c:v>1995</c:v>
                </c:pt>
                <c:pt idx="1">
                  <c:v>1997</c:v>
                </c:pt>
                <c:pt idx="2">
                  <c:v>1998</c:v>
                </c:pt>
                <c:pt idx="3">
                  <c:v>2001</c:v>
                </c:pt>
                <c:pt idx="4">
                  <c:v>2002</c:v>
                </c:pt>
                <c:pt idx="5">
                  <c:v>2004</c:v>
                </c:pt>
                <c:pt idx="6">
                  <c:v>2005</c:v>
                </c:pt>
                <c:pt idx="7">
                  <c:v>2006</c:v>
                </c:pt>
                <c:pt idx="8">
                  <c:v>2008</c:v>
                </c:pt>
                <c:pt idx="9">
                  <c:v>2010</c:v>
                </c:pt>
                <c:pt idx="10">
                  <c:v>2011</c:v>
                </c:pt>
                <c:pt idx="11">
                  <c:v>2012</c:v>
                </c:pt>
                <c:pt idx="12">
                  <c:v>2013</c:v>
                </c:pt>
                <c:pt idx="13">
                  <c:v>2014</c:v>
                </c:pt>
                <c:pt idx="14">
                  <c:v>2015</c:v>
                </c:pt>
                <c:pt idx="15">
                  <c:v>2016</c:v>
                </c:pt>
                <c:pt idx="16">
                  <c:v>2017</c:v>
                </c:pt>
                <c:pt idx="17">
                  <c:v>2018</c:v>
                </c:pt>
                <c:pt idx="18">
                  <c:v>2019</c:v>
                </c:pt>
                <c:pt idx="19">
                  <c:v>2020</c:v>
                </c:pt>
                <c:pt idx="20">
                  <c:v>2021</c:v>
                </c:pt>
                <c:pt idx="21">
                  <c:v>2022</c:v>
                </c:pt>
                <c:pt idx="22">
                  <c:v>2023</c:v>
                </c:pt>
                <c:pt idx="23">
                  <c:v>2024</c:v>
                </c:pt>
                <c:pt idx="24">
                  <c:v>2025</c:v>
                </c:pt>
                <c:pt idx="25">
                  <c:v>2026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2</c:v>
                </c:pt>
                <c:pt idx="9">
                  <c:v>0</c:v>
                </c:pt>
                <c:pt idx="10">
                  <c:v>1</c:v>
                </c:pt>
                <c:pt idx="11">
                  <c:v>2</c:v>
                </c:pt>
                <c:pt idx="12">
                  <c:v>0</c:v>
                </c:pt>
                <c:pt idx="13">
                  <c:v>5</c:v>
                </c:pt>
                <c:pt idx="14">
                  <c:v>1</c:v>
                </c:pt>
                <c:pt idx="15">
                  <c:v>11</c:v>
                </c:pt>
                <c:pt idx="16">
                  <c:v>16</c:v>
                </c:pt>
                <c:pt idx="17">
                  <c:v>40</c:v>
                </c:pt>
                <c:pt idx="18">
                  <c:v>51</c:v>
                </c:pt>
                <c:pt idx="19">
                  <c:v>99</c:v>
                </c:pt>
                <c:pt idx="20">
                  <c:v>110</c:v>
                </c:pt>
                <c:pt idx="21">
                  <c:v>138</c:v>
                </c:pt>
                <c:pt idx="22">
                  <c:v>178</c:v>
                </c:pt>
                <c:pt idx="23">
                  <c:v>183</c:v>
                </c:pt>
                <c:pt idx="24">
                  <c:v>254</c:v>
                </c:pt>
                <c:pt idx="25">
                  <c:v>135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Cardiovascular</c:v>
                </c:pt>
              </c:strCache>
            </c:strRef>
          </c:tx>
          <c:spPr>
            <a:solidFill>
              <a:srgbClr val="C93636"/>
            </a:solidFill>
            <a:ln>
              <a:solidFill>
                <a:srgbClr val="C93636"/>
              </a:solidFill>
            </a:ln>
          </c:spPr>
          <c:cat>
            <c:strRef>
              <c:f>Sheet1!$A$2:$A$27</c:f>
              <c:strCache>
                <c:ptCount val="26"/>
                <c:pt idx="0">
                  <c:v>1995</c:v>
                </c:pt>
                <c:pt idx="1">
                  <c:v>1997</c:v>
                </c:pt>
                <c:pt idx="2">
                  <c:v>1998</c:v>
                </c:pt>
                <c:pt idx="3">
                  <c:v>2001</c:v>
                </c:pt>
                <c:pt idx="4">
                  <c:v>2002</c:v>
                </c:pt>
                <c:pt idx="5">
                  <c:v>2004</c:v>
                </c:pt>
                <c:pt idx="6">
                  <c:v>2005</c:v>
                </c:pt>
                <c:pt idx="7">
                  <c:v>2006</c:v>
                </c:pt>
                <c:pt idx="8">
                  <c:v>2008</c:v>
                </c:pt>
                <c:pt idx="9">
                  <c:v>2010</c:v>
                </c:pt>
                <c:pt idx="10">
                  <c:v>2011</c:v>
                </c:pt>
                <c:pt idx="11">
                  <c:v>2012</c:v>
                </c:pt>
                <c:pt idx="12">
                  <c:v>2013</c:v>
                </c:pt>
                <c:pt idx="13">
                  <c:v>2014</c:v>
                </c:pt>
                <c:pt idx="14">
                  <c:v>2015</c:v>
                </c:pt>
                <c:pt idx="15">
                  <c:v>2016</c:v>
                </c:pt>
                <c:pt idx="16">
                  <c:v>2017</c:v>
                </c:pt>
                <c:pt idx="17">
                  <c:v>2018</c:v>
                </c:pt>
                <c:pt idx="18">
                  <c:v>2019</c:v>
                </c:pt>
                <c:pt idx="19">
                  <c:v>2020</c:v>
                </c:pt>
                <c:pt idx="20">
                  <c:v>2021</c:v>
                </c:pt>
                <c:pt idx="21">
                  <c:v>2022</c:v>
                </c:pt>
                <c:pt idx="22">
                  <c:v>2023</c:v>
                </c:pt>
                <c:pt idx="23">
                  <c:v>2024</c:v>
                </c:pt>
                <c:pt idx="24">
                  <c:v>2025</c:v>
                </c:pt>
                <c:pt idx="25">
                  <c:v>2026</c:v>
                </c:pt>
              </c:strCache>
            </c: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</c:v>
                </c:pt>
                <c:pt idx="9">
                  <c:v>0</c:v>
                </c:pt>
                <c:pt idx="10">
                  <c:v>0</c:v>
                </c:pt>
                <c:pt idx="11">
                  <c:v>1</c:v>
                </c:pt>
                <c:pt idx="12">
                  <c:v>1</c:v>
                </c:pt>
                <c:pt idx="13">
                  <c:v>0</c:v>
                </c:pt>
                <c:pt idx="14">
                  <c:v>1</c:v>
                </c:pt>
                <c:pt idx="15">
                  <c:v>4</c:v>
                </c:pt>
                <c:pt idx="16">
                  <c:v>7</c:v>
                </c:pt>
                <c:pt idx="17">
                  <c:v>10</c:v>
                </c:pt>
                <c:pt idx="18">
                  <c:v>15</c:v>
                </c:pt>
                <c:pt idx="19">
                  <c:v>8</c:v>
                </c:pt>
                <c:pt idx="20">
                  <c:v>11</c:v>
                </c:pt>
                <c:pt idx="21">
                  <c:v>14</c:v>
                </c:pt>
                <c:pt idx="22">
                  <c:v>21</c:v>
                </c:pt>
                <c:pt idx="23">
                  <c:v>15</c:v>
                </c:pt>
                <c:pt idx="24">
                  <c:v>30</c:v>
                </c:pt>
                <c:pt idx="25">
                  <c:v>15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Neurology</c:v>
                </c:pt>
              </c:strCache>
            </c:strRef>
          </c:tx>
          <c:spPr>
            <a:solidFill>
              <a:srgbClr val="E97817"/>
            </a:solidFill>
            <a:ln>
              <a:solidFill>
                <a:srgbClr val="E97817"/>
              </a:solidFill>
            </a:ln>
          </c:spPr>
          <c:cat>
            <c:strRef>
              <c:f>Sheet1!$A$2:$A$27</c:f>
              <c:strCache>
                <c:ptCount val="26"/>
                <c:pt idx="0">
                  <c:v>1995</c:v>
                </c:pt>
                <c:pt idx="1">
                  <c:v>1997</c:v>
                </c:pt>
                <c:pt idx="2">
                  <c:v>1998</c:v>
                </c:pt>
                <c:pt idx="3">
                  <c:v>2001</c:v>
                </c:pt>
                <c:pt idx="4">
                  <c:v>2002</c:v>
                </c:pt>
                <c:pt idx="5">
                  <c:v>2004</c:v>
                </c:pt>
                <c:pt idx="6">
                  <c:v>2005</c:v>
                </c:pt>
                <c:pt idx="7">
                  <c:v>2006</c:v>
                </c:pt>
                <c:pt idx="8">
                  <c:v>2008</c:v>
                </c:pt>
                <c:pt idx="9">
                  <c:v>2010</c:v>
                </c:pt>
                <c:pt idx="10">
                  <c:v>2011</c:v>
                </c:pt>
                <c:pt idx="11">
                  <c:v>2012</c:v>
                </c:pt>
                <c:pt idx="12">
                  <c:v>2013</c:v>
                </c:pt>
                <c:pt idx="13">
                  <c:v>2014</c:v>
                </c:pt>
                <c:pt idx="14">
                  <c:v>2015</c:v>
                </c:pt>
                <c:pt idx="15">
                  <c:v>2016</c:v>
                </c:pt>
                <c:pt idx="16">
                  <c:v>2017</c:v>
                </c:pt>
                <c:pt idx="17">
                  <c:v>2018</c:v>
                </c:pt>
                <c:pt idx="18">
                  <c:v>2019</c:v>
                </c:pt>
                <c:pt idx="19">
                  <c:v>2020</c:v>
                </c:pt>
                <c:pt idx="20">
                  <c:v>2021</c:v>
                </c:pt>
                <c:pt idx="21">
                  <c:v>2022</c:v>
                </c:pt>
                <c:pt idx="22">
                  <c:v>2023</c:v>
                </c:pt>
                <c:pt idx="23">
                  <c:v>2024</c:v>
                </c:pt>
                <c:pt idx="24">
                  <c:v>2025</c:v>
                </c:pt>
                <c:pt idx="25">
                  <c:v>2026</c:v>
                </c:pt>
              </c:strCache>
            </c:strRef>
          </c:cat>
          <c:val>
            <c:numRef>
              <c:f>Sheet1!$D$2:$D$27</c:f>
              <c:numCache>
                <c:formatCode>General</c:formatCode>
                <c:ptCount val="2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0</c:v>
                </c:pt>
                <c:pt idx="17">
                  <c:v>6</c:v>
                </c:pt>
                <c:pt idx="18">
                  <c:v>5</c:v>
                </c:pt>
                <c:pt idx="19">
                  <c:v>1</c:v>
                </c:pt>
                <c:pt idx="20">
                  <c:v>3</c:v>
                </c:pt>
                <c:pt idx="21">
                  <c:v>2</c:v>
                </c:pt>
                <c:pt idx="22">
                  <c:v>11</c:v>
                </c:pt>
                <c:pt idx="23">
                  <c:v>15</c:v>
                </c:pt>
                <c:pt idx="24">
                  <c:v>19</c:v>
                </c:pt>
                <c:pt idx="25">
                  <c:v>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Anesthesiology</c:v>
                </c:pt>
              </c:strCache>
            </c:strRef>
          </c:tx>
          <c:spPr>
            <a:solidFill>
              <a:srgbClr val="16858C"/>
            </a:solidFill>
            <a:ln>
              <a:solidFill>
                <a:srgbClr val="16858C"/>
              </a:solidFill>
            </a:ln>
          </c:spPr>
          <c:cat>
            <c:strRef>
              <c:f>Sheet1!$A$2:$A$27</c:f>
              <c:strCache>
                <c:ptCount val="26"/>
                <c:pt idx="0">
                  <c:v>1995</c:v>
                </c:pt>
                <c:pt idx="1">
                  <c:v>1997</c:v>
                </c:pt>
                <c:pt idx="2">
                  <c:v>1998</c:v>
                </c:pt>
                <c:pt idx="3">
                  <c:v>2001</c:v>
                </c:pt>
                <c:pt idx="4">
                  <c:v>2002</c:v>
                </c:pt>
                <c:pt idx="5">
                  <c:v>2004</c:v>
                </c:pt>
                <c:pt idx="6">
                  <c:v>2005</c:v>
                </c:pt>
                <c:pt idx="7">
                  <c:v>2006</c:v>
                </c:pt>
                <c:pt idx="8">
                  <c:v>2008</c:v>
                </c:pt>
                <c:pt idx="9">
                  <c:v>2010</c:v>
                </c:pt>
                <c:pt idx="10">
                  <c:v>2011</c:v>
                </c:pt>
                <c:pt idx="11">
                  <c:v>2012</c:v>
                </c:pt>
                <c:pt idx="12">
                  <c:v>2013</c:v>
                </c:pt>
                <c:pt idx="13">
                  <c:v>2014</c:v>
                </c:pt>
                <c:pt idx="14">
                  <c:v>2015</c:v>
                </c:pt>
                <c:pt idx="15">
                  <c:v>2016</c:v>
                </c:pt>
                <c:pt idx="16">
                  <c:v>2017</c:v>
                </c:pt>
                <c:pt idx="17">
                  <c:v>2018</c:v>
                </c:pt>
                <c:pt idx="18">
                  <c:v>2019</c:v>
                </c:pt>
                <c:pt idx="19">
                  <c:v>2020</c:v>
                </c:pt>
                <c:pt idx="20">
                  <c:v>2021</c:v>
                </c:pt>
                <c:pt idx="21">
                  <c:v>2022</c:v>
                </c:pt>
                <c:pt idx="22">
                  <c:v>2023</c:v>
                </c:pt>
                <c:pt idx="23">
                  <c:v>2024</c:v>
                </c:pt>
                <c:pt idx="24">
                  <c:v>2025</c:v>
                </c:pt>
                <c:pt idx="25">
                  <c:v>2026</c:v>
                </c:pt>
              </c:strCache>
            </c:strRef>
          </c:cat>
          <c:val>
            <c:numRef>
              <c:f>Sheet1!$E$2:$E$27</c:f>
              <c:numCache>
                <c:formatCode>General</c:formatCode>
                <c:ptCount val="26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2</c:v>
                </c:pt>
                <c:pt idx="15">
                  <c:v>0</c:v>
                </c:pt>
                <c:pt idx="16">
                  <c:v>1</c:v>
                </c:pt>
                <c:pt idx="17">
                  <c:v>0</c:v>
                </c:pt>
                <c:pt idx="18">
                  <c:v>1</c:v>
                </c:pt>
                <c:pt idx="19">
                  <c:v>1</c:v>
                </c:pt>
                <c:pt idx="20">
                  <c:v>0</c:v>
                </c:pt>
                <c:pt idx="21">
                  <c:v>2</c:v>
                </c:pt>
                <c:pt idx="22">
                  <c:v>5</c:v>
                </c:pt>
                <c:pt idx="23">
                  <c:v>5</c:v>
                </c:pt>
                <c:pt idx="24">
                  <c:v>8</c:v>
                </c:pt>
                <c:pt idx="25">
                  <c:v>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Gastroenterology-Urology</c:v>
                </c:pt>
              </c:strCache>
            </c:strRef>
          </c:tx>
          <c:spPr>
            <a:solidFill>
              <a:srgbClr val="AD2458"/>
            </a:solidFill>
            <a:ln>
              <a:solidFill>
                <a:srgbClr val="AD2458"/>
              </a:solidFill>
            </a:ln>
          </c:spPr>
          <c:cat>
            <c:strRef>
              <c:f>Sheet1!$A$2:$A$27</c:f>
              <c:strCache>
                <c:ptCount val="26"/>
                <c:pt idx="0">
                  <c:v>1995</c:v>
                </c:pt>
                <c:pt idx="1">
                  <c:v>1997</c:v>
                </c:pt>
                <c:pt idx="2">
                  <c:v>1998</c:v>
                </c:pt>
                <c:pt idx="3">
                  <c:v>2001</c:v>
                </c:pt>
                <c:pt idx="4">
                  <c:v>2002</c:v>
                </c:pt>
                <c:pt idx="5">
                  <c:v>2004</c:v>
                </c:pt>
                <c:pt idx="6">
                  <c:v>2005</c:v>
                </c:pt>
                <c:pt idx="7">
                  <c:v>2006</c:v>
                </c:pt>
                <c:pt idx="8">
                  <c:v>2008</c:v>
                </c:pt>
                <c:pt idx="9">
                  <c:v>2010</c:v>
                </c:pt>
                <c:pt idx="10">
                  <c:v>2011</c:v>
                </c:pt>
                <c:pt idx="11">
                  <c:v>2012</c:v>
                </c:pt>
                <c:pt idx="12">
                  <c:v>2013</c:v>
                </c:pt>
                <c:pt idx="13">
                  <c:v>2014</c:v>
                </c:pt>
                <c:pt idx="14">
                  <c:v>2015</c:v>
                </c:pt>
                <c:pt idx="15">
                  <c:v>2016</c:v>
                </c:pt>
                <c:pt idx="16">
                  <c:v>2017</c:v>
                </c:pt>
                <c:pt idx="17">
                  <c:v>2018</c:v>
                </c:pt>
                <c:pt idx="18">
                  <c:v>2019</c:v>
                </c:pt>
                <c:pt idx="19">
                  <c:v>2020</c:v>
                </c:pt>
                <c:pt idx="20">
                  <c:v>2021</c:v>
                </c:pt>
                <c:pt idx="21">
                  <c:v>2022</c:v>
                </c:pt>
                <c:pt idx="22">
                  <c:v>2023</c:v>
                </c:pt>
                <c:pt idx="23">
                  <c:v>2024</c:v>
                </c:pt>
                <c:pt idx="24">
                  <c:v>2025</c:v>
                </c:pt>
                <c:pt idx="25">
                  <c:v>2026</c:v>
                </c:pt>
              </c:strCache>
            </c:strRef>
          </c:cat>
          <c:val>
            <c:numRef>
              <c:f>Sheet1!$F$2:$F$27</c:f>
              <c:numCache>
                <c:formatCode>General</c:formatCode>
                <c:ptCount val="2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1</c:v>
                </c:pt>
                <c:pt idx="18">
                  <c:v>0</c:v>
                </c:pt>
                <c:pt idx="19">
                  <c:v>0</c:v>
                </c:pt>
                <c:pt idx="20">
                  <c:v>3</c:v>
                </c:pt>
                <c:pt idx="21">
                  <c:v>1</c:v>
                </c:pt>
                <c:pt idx="22">
                  <c:v>5</c:v>
                </c:pt>
                <c:pt idx="23">
                  <c:v>5</c:v>
                </c:pt>
                <c:pt idx="24">
                  <c:v>8</c:v>
                </c:pt>
                <c:pt idx="25">
                  <c:v>4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Hematology</c:v>
                </c:pt>
              </c:strCache>
            </c:strRef>
          </c:tx>
          <c:spPr>
            <a:solidFill>
              <a:srgbClr val="F3A62A"/>
            </a:solidFill>
            <a:ln>
              <a:solidFill>
                <a:srgbClr val="F3A62A"/>
              </a:solidFill>
            </a:ln>
          </c:spPr>
          <c:cat>
            <c:strRef>
              <c:f>Sheet1!$A$2:$A$27</c:f>
              <c:strCache>
                <c:ptCount val="26"/>
                <c:pt idx="0">
                  <c:v>1995</c:v>
                </c:pt>
                <c:pt idx="1">
                  <c:v>1997</c:v>
                </c:pt>
                <c:pt idx="2">
                  <c:v>1998</c:v>
                </c:pt>
                <c:pt idx="3">
                  <c:v>2001</c:v>
                </c:pt>
                <c:pt idx="4">
                  <c:v>2002</c:v>
                </c:pt>
                <c:pt idx="5">
                  <c:v>2004</c:v>
                </c:pt>
                <c:pt idx="6">
                  <c:v>2005</c:v>
                </c:pt>
                <c:pt idx="7">
                  <c:v>2006</c:v>
                </c:pt>
                <c:pt idx="8">
                  <c:v>2008</c:v>
                </c:pt>
                <c:pt idx="9">
                  <c:v>2010</c:v>
                </c:pt>
                <c:pt idx="10">
                  <c:v>2011</c:v>
                </c:pt>
                <c:pt idx="11">
                  <c:v>2012</c:v>
                </c:pt>
                <c:pt idx="12">
                  <c:v>2013</c:v>
                </c:pt>
                <c:pt idx="13">
                  <c:v>2014</c:v>
                </c:pt>
                <c:pt idx="14">
                  <c:v>2015</c:v>
                </c:pt>
                <c:pt idx="15">
                  <c:v>2016</c:v>
                </c:pt>
                <c:pt idx="16">
                  <c:v>2017</c:v>
                </c:pt>
                <c:pt idx="17">
                  <c:v>2018</c:v>
                </c:pt>
                <c:pt idx="18">
                  <c:v>2019</c:v>
                </c:pt>
                <c:pt idx="19">
                  <c:v>2020</c:v>
                </c:pt>
                <c:pt idx="20">
                  <c:v>2021</c:v>
                </c:pt>
                <c:pt idx="21">
                  <c:v>2022</c:v>
                </c:pt>
                <c:pt idx="22">
                  <c:v>2023</c:v>
                </c:pt>
                <c:pt idx="23">
                  <c:v>2024</c:v>
                </c:pt>
                <c:pt idx="24">
                  <c:v>2025</c:v>
                </c:pt>
                <c:pt idx="25">
                  <c:v>2026</c:v>
                </c:pt>
              </c:strCache>
            </c:strRef>
          </c:cat>
          <c:val>
            <c:numRef>
              <c:f>Sheet1!$G$2:$G$27</c:f>
              <c:numCache>
                <c:formatCode>General</c:formatCode>
                <c:ptCount val="2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  <c:pt idx="5">
                  <c:v>1</c:v>
                </c:pt>
                <c:pt idx="6">
                  <c:v>0</c:v>
                </c:pt>
                <c:pt idx="7">
                  <c:v>0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0</c:v>
                </c:pt>
                <c:pt idx="12">
                  <c:v>1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1</c:v>
                </c:pt>
                <c:pt idx="17">
                  <c:v>2</c:v>
                </c:pt>
                <c:pt idx="18">
                  <c:v>1</c:v>
                </c:pt>
                <c:pt idx="19">
                  <c:v>3</c:v>
                </c:pt>
                <c:pt idx="20">
                  <c:v>0</c:v>
                </c:pt>
                <c:pt idx="21">
                  <c:v>2</c:v>
                </c:pt>
                <c:pt idx="22">
                  <c:v>1</c:v>
                </c:pt>
                <c:pt idx="23">
                  <c:v>1</c:v>
                </c:pt>
                <c:pt idx="24">
                  <c:v>3</c:v>
                </c:pt>
                <c:pt idx="25">
                  <c:v>2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Pathology</c:v>
                </c:pt>
              </c:strCache>
            </c:strRef>
          </c:tx>
          <c:spPr>
            <a:solidFill>
              <a:srgbClr val="3E8B45"/>
            </a:solidFill>
            <a:ln>
              <a:solidFill>
                <a:srgbClr val="3E8B45"/>
              </a:solidFill>
            </a:ln>
          </c:spPr>
          <c:cat>
            <c:strRef>
              <c:f>Sheet1!$A$2:$A$27</c:f>
              <c:strCache>
                <c:ptCount val="26"/>
                <c:pt idx="0">
                  <c:v>1995</c:v>
                </c:pt>
                <c:pt idx="1">
                  <c:v>1997</c:v>
                </c:pt>
                <c:pt idx="2">
                  <c:v>1998</c:v>
                </c:pt>
                <c:pt idx="3">
                  <c:v>2001</c:v>
                </c:pt>
                <c:pt idx="4">
                  <c:v>2002</c:v>
                </c:pt>
                <c:pt idx="5">
                  <c:v>2004</c:v>
                </c:pt>
                <c:pt idx="6">
                  <c:v>2005</c:v>
                </c:pt>
                <c:pt idx="7">
                  <c:v>2006</c:v>
                </c:pt>
                <c:pt idx="8">
                  <c:v>2008</c:v>
                </c:pt>
                <c:pt idx="9">
                  <c:v>2010</c:v>
                </c:pt>
                <c:pt idx="10">
                  <c:v>2011</c:v>
                </c:pt>
                <c:pt idx="11">
                  <c:v>2012</c:v>
                </c:pt>
                <c:pt idx="12">
                  <c:v>2013</c:v>
                </c:pt>
                <c:pt idx="13">
                  <c:v>2014</c:v>
                </c:pt>
                <c:pt idx="14">
                  <c:v>2015</c:v>
                </c:pt>
                <c:pt idx="15">
                  <c:v>2016</c:v>
                </c:pt>
                <c:pt idx="16">
                  <c:v>2017</c:v>
                </c:pt>
                <c:pt idx="17">
                  <c:v>2018</c:v>
                </c:pt>
                <c:pt idx="18">
                  <c:v>2019</c:v>
                </c:pt>
                <c:pt idx="19">
                  <c:v>2020</c:v>
                </c:pt>
                <c:pt idx="20">
                  <c:v>2021</c:v>
                </c:pt>
                <c:pt idx="21">
                  <c:v>2022</c:v>
                </c:pt>
                <c:pt idx="22">
                  <c:v>2023</c:v>
                </c:pt>
                <c:pt idx="23">
                  <c:v>2024</c:v>
                </c:pt>
                <c:pt idx="24">
                  <c:v>2025</c:v>
                </c:pt>
                <c:pt idx="25">
                  <c:v>2026</c:v>
                </c:pt>
              </c:strCache>
            </c:strRef>
          </c:cat>
          <c:val>
            <c:numRef>
              <c:f>Sheet1!$H$2:$H$27</c:f>
              <c:numCache>
                <c:formatCode>General</c:formatCode>
                <c:ptCount val="26"/>
                <c:pt idx="0">
                  <c:v>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1</c:v>
                </c:pt>
                <c:pt idx="21">
                  <c:v>0</c:v>
                </c:pt>
                <c:pt idx="22">
                  <c:v>1</c:v>
                </c:pt>
                <c:pt idx="23">
                  <c:v>1</c:v>
                </c:pt>
                <c:pt idx="24">
                  <c:v>4</c:v>
                </c:pt>
                <c:pt idx="25">
                  <c:v>1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Ophthalmic</c:v>
                </c:pt>
              </c:strCache>
            </c:strRef>
          </c:tx>
          <c:spPr>
            <a:solidFill>
              <a:srgbClr val="6A2CA0"/>
            </a:solidFill>
            <a:ln>
              <a:solidFill>
                <a:srgbClr val="6A2CA0"/>
              </a:solidFill>
            </a:ln>
          </c:spPr>
          <c:cat>
            <c:strRef>
              <c:f>Sheet1!$A$2:$A$27</c:f>
              <c:strCache>
                <c:ptCount val="26"/>
                <c:pt idx="0">
                  <c:v>1995</c:v>
                </c:pt>
                <c:pt idx="1">
                  <c:v>1997</c:v>
                </c:pt>
                <c:pt idx="2">
                  <c:v>1998</c:v>
                </c:pt>
                <c:pt idx="3">
                  <c:v>2001</c:v>
                </c:pt>
                <c:pt idx="4">
                  <c:v>2002</c:v>
                </c:pt>
                <c:pt idx="5">
                  <c:v>2004</c:v>
                </c:pt>
                <c:pt idx="6">
                  <c:v>2005</c:v>
                </c:pt>
                <c:pt idx="7">
                  <c:v>2006</c:v>
                </c:pt>
                <c:pt idx="8">
                  <c:v>2008</c:v>
                </c:pt>
                <c:pt idx="9">
                  <c:v>2010</c:v>
                </c:pt>
                <c:pt idx="10">
                  <c:v>2011</c:v>
                </c:pt>
                <c:pt idx="11">
                  <c:v>2012</c:v>
                </c:pt>
                <c:pt idx="12">
                  <c:v>2013</c:v>
                </c:pt>
                <c:pt idx="13">
                  <c:v>2014</c:v>
                </c:pt>
                <c:pt idx="14">
                  <c:v>2015</c:v>
                </c:pt>
                <c:pt idx="15">
                  <c:v>2016</c:v>
                </c:pt>
                <c:pt idx="16">
                  <c:v>2017</c:v>
                </c:pt>
                <c:pt idx="17">
                  <c:v>2018</c:v>
                </c:pt>
                <c:pt idx="18">
                  <c:v>2019</c:v>
                </c:pt>
                <c:pt idx="19">
                  <c:v>2020</c:v>
                </c:pt>
                <c:pt idx="20">
                  <c:v>2021</c:v>
                </c:pt>
                <c:pt idx="21">
                  <c:v>2022</c:v>
                </c:pt>
                <c:pt idx="22">
                  <c:v>2023</c:v>
                </c:pt>
                <c:pt idx="23">
                  <c:v>2024</c:v>
                </c:pt>
                <c:pt idx="24">
                  <c:v>2025</c:v>
                </c:pt>
                <c:pt idx="25">
                  <c:v>2026</c:v>
                </c:pt>
              </c:strCache>
            </c:strRef>
          </c:cat>
          <c:val>
            <c:numRef>
              <c:f>Sheet1!$I$2:$I$27</c:f>
              <c:numCache>
                <c:formatCode>General</c:formatCode>
                <c:ptCount val="2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2</c:v>
                </c:pt>
                <c:pt idx="22">
                  <c:v>1</c:v>
                </c:pt>
                <c:pt idx="23">
                  <c:v>2</c:v>
                </c:pt>
                <c:pt idx="24">
                  <c:v>1</c:v>
                </c:pt>
                <c:pt idx="25">
                  <c:v>0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General and Plastic Surgery</c:v>
                </c:pt>
              </c:strCache>
            </c:strRef>
          </c:tx>
          <c:spPr>
            <a:solidFill>
              <a:srgbClr val="4B2CA3"/>
            </a:solidFill>
            <a:ln>
              <a:solidFill>
                <a:srgbClr val="4B2CA3"/>
              </a:solidFill>
            </a:ln>
          </c:spPr>
          <c:cat>
            <c:strRef>
              <c:f>Sheet1!$A$2:$A$27</c:f>
              <c:strCache>
                <c:ptCount val="26"/>
                <c:pt idx="0">
                  <c:v>1995</c:v>
                </c:pt>
                <c:pt idx="1">
                  <c:v>1997</c:v>
                </c:pt>
                <c:pt idx="2">
                  <c:v>1998</c:v>
                </c:pt>
                <c:pt idx="3">
                  <c:v>2001</c:v>
                </c:pt>
                <c:pt idx="4">
                  <c:v>2002</c:v>
                </c:pt>
                <c:pt idx="5">
                  <c:v>2004</c:v>
                </c:pt>
                <c:pt idx="6">
                  <c:v>2005</c:v>
                </c:pt>
                <c:pt idx="7">
                  <c:v>2006</c:v>
                </c:pt>
                <c:pt idx="8">
                  <c:v>2008</c:v>
                </c:pt>
                <c:pt idx="9">
                  <c:v>2010</c:v>
                </c:pt>
                <c:pt idx="10">
                  <c:v>2011</c:v>
                </c:pt>
                <c:pt idx="11">
                  <c:v>2012</c:v>
                </c:pt>
                <c:pt idx="12">
                  <c:v>2013</c:v>
                </c:pt>
                <c:pt idx="13">
                  <c:v>2014</c:v>
                </c:pt>
                <c:pt idx="14">
                  <c:v>2015</c:v>
                </c:pt>
                <c:pt idx="15">
                  <c:v>2016</c:v>
                </c:pt>
                <c:pt idx="16">
                  <c:v>2017</c:v>
                </c:pt>
                <c:pt idx="17">
                  <c:v>2018</c:v>
                </c:pt>
                <c:pt idx="18">
                  <c:v>2019</c:v>
                </c:pt>
                <c:pt idx="19">
                  <c:v>2020</c:v>
                </c:pt>
                <c:pt idx="20">
                  <c:v>2021</c:v>
                </c:pt>
                <c:pt idx="21">
                  <c:v>2022</c:v>
                </c:pt>
                <c:pt idx="22">
                  <c:v>2023</c:v>
                </c:pt>
                <c:pt idx="23">
                  <c:v>2024</c:v>
                </c:pt>
                <c:pt idx="24">
                  <c:v>2025</c:v>
                </c:pt>
                <c:pt idx="25">
                  <c:v>2026</c:v>
                </c:pt>
              </c:strCache>
            </c:strRef>
          </c:cat>
          <c:val>
            <c:numRef>
              <c:f>Sheet1!$J$2:$J$27</c:f>
              <c:numCache>
                <c:formatCode>General</c:formatCode>
                <c:ptCount val="2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1</c:v>
                </c:pt>
                <c:pt idx="11">
                  <c:v>1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1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2</c:v>
                </c:pt>
                <c:pt idx="24">
                  <c:v>2</c:v>
                </c:pt>
                <c:pt idx="25">
                  <c:v>2</c:v>
                </c:pt>
              </c:numCache>
            </c:numRef>
          </c:val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14725E"/>
            </a:solidFill>
            <a:ln>
              <a:solidFill>
                <a:srgbClr val="14725E"/>
              </a:solidFill>
            </a:ln>
          </c:spPr>
          <c:cat>
            <c:strRef>
              <c:f>Sheet1!$A$2:$A$27</c:f>
              <c:strCache>
                <c:ptCount val="26"/>
                <c:pt idx="0">
                  <c:v>1995</c:v>
                </c:pt>
                <c:pt idx="1">
                  <c:v>1997</c:v>
                </c:pt>
                <c:pt idx="2">
                  <c:v>1998</c:v>
                </c:pt>
                <c:pt idx="3">
                  <c:v>2001</c:v>
                </c:pt>
                <c:pt idx="4">
                  <c:v>2002</c:v>
                </c:pt>
                <c:pt idx="5">
                  <c:v>2004</c:v>
                </c:pt>
                <c:pt idx="6">
                  <c:v>2005</c:v>
                </c:pt>
                <c:pt idx="7">
                  <c:v>2006</c:v>
                </c:pt>
                <c:pt idx="8">
                  <c:v>2008</c:v>
                </c:pt>
                <c:pt idx="9">
                  <c:v>2010</c:v>
                </c:pt>
                <c:pt idx="10">
                  <c:v>2011</c:v>
                </c:pt>
                <c:pt idx="11">
                  <c:v>2012</c:v>
                </c:pt>
                <c:pt idx="12">
                  <c:v>2013</c:v>
                </c:pt>
                <c:pt idx="13">
                  <c:v>2014</c:v>
                </c:pt>
                <c:pt idx="14">
                  <c:v>2015</c:v>
                </c:pt>
                <c:pt idx="15">
                  <c:v>2016</c:v>
                </c:pt>
                <c:pt idx="16">
                  <c:v>2017</c:v>
                </c:pt>
                <c:pt idx="17">
                  <c:v>2018</c:v>
                </c:pt>
                <c:pt idx="18">
                  <c:v>2019</c:v>
                </c:pt>
                <c:pt idx="19">
                  <c:v>2020</c:v>
                </c:pt>
                <c:pt idx="20">
                  <c:v>2021</c:v>
                </c:pt>
                <c:pt idx="21">
                  <c:v>2022</c:v>
                </c:pt>
                <c:pt idx="22">
                  <c:v>2023</c:v>
                </c:pt>
                <c:pt idx="23">
                  <c:v>2024</c:v>
                </c:pt>
                <c:pt idx="24">
                  <c:v>2025</c:v>
                </c:pt>
                <c:pt idx="25">
                  <c:v>2026</c:v>
                </c:pt>
              </c:strCache>
            </c:strRef>
          </c:cat>
          <c:val>
            <c:numRef>
              <c:f>Sheet1!$K$2:$K$27</c:f>
              <c:numCache>
                <c:formatCode>General</c:formatCode>
                <c:ptCount val="2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0</c:v>
                </c:pt>
                <c:pt idx="11">
                  <c:v>1</c:v>
                </c:pt>
                <c:pt idx="12">
                  <c:v>2</c:v>
                </c:pt>
                <c:pt idx="13">
                  <c:v>0</c:v>
                </c:pt>
                <c:pt idx="14">
                  <c:v>1</c:v>
                </c:pt>
                <c:pt idx="15">
                  <c:v>2</c:v>
                </c:pt>
                <c:pt idx="16">
                  <c:v>1</c:v>
                </c:pt>
                <c:pt idx="17">
                  <c:v>5</c:v>
                </c:pt>
                <c:pt idx="18">
                  <c:v>6</c:v>
                </c:pt>
                <c:pt idx="19">
                  <c:v>1</c:v>
                </c:pt>
                <c:pt idx="20">
                  <c:v>0</c:v>
                </c:pt>
                <c:pt idx="21">
                  <c:v>1</c:v>
                </c:pt>
                <c:pt idx="22">
                  <c:v>3</c:v>
                </c:pt>
                <c:pt idx="23">
                  <c:v>6</c:v>
                </c:pt>
                <c:pt idx="24">
                  <c:v>6</c:v>
                </c:pt>
                <c:pt idx="25">
                  <c:v>10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Number of devices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69494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0233F"/>
                </a:solidFill>
                <a:latin typeface="Aptos"/>
              </a:rPr>
              <a:t>FDA AI-Enabled Medical Device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70408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ptos"/>
              </a:rPr>
              <a:t>Entries by final-decision year and FDA lead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41832"/>
            <a:ext cx="768096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Source data: U.S. Food and Drug Administration AI-Enabled Medical Devices List CSV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47888" y="256032"/>
            <a:ext cx="987552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374904"/>
            <a:ext cx="841248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10233F"/>
                </a:solidFill>
                <a:latin typeface="Aptos"/>
              </a:rPr>
              <a:t>1,614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02752" y="694944"/>
            <a:ext cx="877824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80" b="0" i="0">
                <a:solidFill>
                  <a:srgbClr val="64748B"/>
                </a:solidFill>
                <a:latin typeface="Aptos"/>
              </a:rPr>
              <a:t>FDA list entries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91472" y="256032"/>
            <a:ext cx="987552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64624" y="374904"/>
            <a:ext cx="841248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10233F"/>
                </a:solidFill>
                <a:latin typeface="Aptos"/>
              </a:rPr>
              <a:t>1,230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46336" y="694944"/>
            <a:ext cx="877824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80" b="0" i="0">
                <a:solidFill>
                  <a:srgbClr val="64748B"/>
                </a:solidFill>
                <a:latin typeface="Aptos"/>
              </a:rPr>
              <a:t>Radiology entries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44200" y="256032"/>
            <a:ext cx="987552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17352" y="374904"/>
            <a:ext cx="841248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10233F"/>
                </a:solidFill>
                <a:latin typeface="Aptos"/>
              </a:rPr>
              <a:t>76.2%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99064" y="694944"/>
            <a:ext cx="877824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80" b="0" i="0">
                <a:solidFill>
                  <a:srgbClr val="64748B"/>
                </a:solidFill>
                <a:latin typeface="Aptos"/>
              </a:rPr>
              <a:t>Radiology share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502920" y="1298448"/>
          <a:ext cx="91897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02920" y="5522976"/>
            <a:ext cx="111099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Aptos"/>
              </a:rPr>
              <a:t>Latest final-decision date in FDA source: Jun 29, 2026   |   AI2Practice sync: Sep 27,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779008"/>
            <a:ext cx="111556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50" b="0" i="0">
                <a:solidFill>
                  <a:srgbClr val="334155"/>
                </a:solidFill>
                <a:latin typeface="Aptos"/>
              </a:rPr>
              <a:t>Li S, Andriole K, Chang P, Grimm L, Heilbrun M, Krupinski E, Klontzas M, Amiruddin R, Kadom N, Doo F. AI2Practice: FDA AI-Enabled Medical Device List visualization. AI2Practice. https://um-ihc-ca2i.github.io/ai2practice/tracker.html. Source data: U.S. FDA AI-Enabled Medical Devices List. Visualization adapted by AI2Practice for educational use; not an FDA product or endorsement.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345936"/>
            <a:ext cx="111556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64748B"/>
                </a:solidFill>
                <a:latin typeface="Aptos"/>
              </a:rPr>
              <a:t>FDA notes that the AI-Enabled Medical Device List is updated periodically and is not comprehensive.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FDA AI-Enabled Medical Device List</dc:title>
  <dc:subject>FDA AI-Enabled Medical Device List visualization</dc:subject>
  <dc:creator>AI2Practice</dc:creator>
  <cp:keywords>FDA; AI-enabled medical devices; AI2Practice; radiology</cp:keywords>
  <dc:description>Source: FDA AI-Enabled Medical Devices List; visualization adapted by AI2Practice for educational use.</dc:description>
  <cp:lastModifiedBy>Steve Canny</cp:lastModifiedBy>
  <cp:revision>1</cp:revision>
  <dcterms:created xsi:type="dcterms:W3CDTF">2013-01-27T09:14:16Z</dcterms:created>
  <dcterms:modified xsi:type="dcterms:W3CDTF">2026-09-27T02:24:38Z</dcterms:modified>
  <cp:category/>
</cp:coreProperties>
</file>